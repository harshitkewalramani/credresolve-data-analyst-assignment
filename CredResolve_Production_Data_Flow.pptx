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46304"/>
            <a:ext cx="11475720" cy="3416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2100" b="1" i="0">
                <a:solidFill>
                  <a:srgbClr val="111827"/>
                </a:solidFill>
                <a:latin typeface="+mj-lt"/>
              </a:rPr>
              <a:t>CredResolve — Production Data Flow &amp;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" y="1024128"/>
            <a:ext cx="1481328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RAW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chemeClr val="tx1"/>
                </a:solidFill>
                <a:latin typeface="+mj-lt"/>
              </a:rPr>
              <a:t>• Immutable source copies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chemeClr val="tx1"/>
                </a:solidFill>
                <a:latin typeface="+mj-lt"/>
              </a:rPr>
              <a:t>• source_system + source_record_id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chemeClr val="tx1"/>
                </a:solidFill>
                <a:latin typeface="+mj-lt"/>
              </a:rPr>
              <a:t>• Ingestion timestamp / batch metadata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10512" y="1024128"/>
            <a:ext cx="1481328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STAGING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111827"/>
                </a:solidFill>
                <a:latin typeface="+mj-lt"/>
              </a:rPr>
              <a:t>• Schema / data-contract validation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111827"/>
                </a:solidFill>
                <a:latin typeface="+mj-lt"/>
              </a:rPr>
              <a:t>• Type checks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50" dirty="0">
                <a:solidFill>
                  <a:srgbClr val="111827"/>
                </a:solidFill>
                <a:latin typeface="+mj-lt"/>
              </a:rPr>
              <a:t>• Contract violations flagged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024128"/>
            <a:ext cx="1481328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CLEAN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dirty="0">
                <a:solidFill>
                  <a:srgbClr val="111827"/>
                </a:solidFill>
                <a:latin typeface="+mj-lt"/>
              </a:rPr>
              <a:t>• Exact duplicates removed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dirty="0">
                <a:solidFill>
                  <a:srgbClr val="111827"/>
                </a:solidFill>
                <a:latin typeface="+mj-lt"/>
              </a:rPr>
              <a:t>• Conflicting duplicates → quarantine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dirty="0">
                <a:solidFill>
                  <a:srgbClr val="111827"/>
                </a:solidFill>
                <a:latin typeface="+mj-lt"/>
              </a:rPr>
              <a:t>• FK validation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dirty="0">
                <a:solidFill>
                  <a:srgbClr val="111827"/>
                </a:solidFill>
                <a:latin typeface="+mj-lt"/>
              </a:rPr>
              <a:t>• Timestamp anomaly flags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dirty="0">
                <a:solidFill>
                  <a:srgbClr val="111827"/>
                </a:solidFill>
                <a:latin typeface="+mj-lt"/>
              </a:rPr>
              <a:t>• Disposition / PTP anomaly flags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2352" y="1024128"/>
            <a:ext cx="1481328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GOLDEN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90" dirty="0">
                <a:solidFill>
                  <a:srgbClr val="111827"/>
                </a:solidFill>
                <a:latin typeface="+mj-lt"/>
              </a:rPr>
              <a:t>• Conformed event-level facts (natural grain)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90" dirty="0">
                <a:solidFill>
                  <a:srgbClr val="111827"/>
                </a:solidFill>
                <a:latin typeface="+mj-lt"/>
              </a:rPr>
              <a:t>• dim_accounts = analytical spine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90" dirty="0">
                <a:solidFill>
                  <a:srgbClr val="111827"/>
                </a:solidFill>
                <a:latin typeface="+mj-lt"/>
              </a:rPr>
              <a:t>• account_id = strongest provisional key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90" dirty="0">
                <a:solidFill>
                  <a:srgbClr val="111827"/>
                </a:solidFill>
                <a:latin typeface="+mj-lt"/>
              </a:rPr>
              <a:t>• borrower_id / agent_id unresolved, non-canonical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90" dirty="0">
                <a:solidFill>
                  <a:srgbClr val="111827"/>
                </a:solidFill>
                <a:latin typeface="+mj-lt"/>
              </a:rPr>
              <a:t>• Payment dedup applied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90" dirty="0">
                <a:solidFill>
                  <a:srgbClr val="111827"/>
                </a:solidFill>
                <a:latin typeface="+mj-lt"/>
              </a:rPr>
              <a:t>• Audit trail + ruleset 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48272" y="1024128"/>
            <a:ext cx="1481328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FEATURE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dirty="0">
                <a:solidFill>
                  <a:srgbClr val="111827"/>
                </a:solidFill>
                <a:latin typeface="+mj-lt"/>
              </a:rPr>
              <a:t>• Account-level features: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dirty="0">
                <a:solidFill>
                  <a:srgbClr val="111827"/>
                </a:solidFill>
                <a:latin typeface="+mj-lt"/>
              </a:rPr>
              <a:t>• DPD, prior payment / contact history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dirty="0">
                <a:solidFill>
                  <a:srgbClr val="111827"/>
                </a:solidFill>
                <a:latin typeface="+mj-lt"/>
              </a:rPr>
              <a:t>• Targeting exposure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dirty="0">
                <a:solidFill>
                  <a:srgbClr val="111827"/>
                </a:solidFill>
                <a:latin typeface="+mj-lt"/>
              </a:rPr>
              <a:t>• Channel touches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dirty="0">
                <a:solidFill>
                  <a:srgbClr val="111827"/>
                </a:solidFill>
                <a:latin typeface="+mj-lt"/>
              </a:rPr>
              <a:t>• Attempt frequency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0" dirty="0">
                <a:solidFill>
                  <a:srgbClr val="111827"/>
                </a:solidFill>
                <a:latin typeface="+mj-lt"/>
              </a:rPr>
              <a:t>• Campaign exposure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1024128"/>
            <a:ext cx="1481328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67344" y="1124712"/>
            <a:ext cx="1335024" cy="218521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300" b="1" i="0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1481328"/>
            <a:ext cx="1298448" cy="6877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69" b="0" i="0" dirty="0">
                <a:solidFill>
                  <a:srgbClr val="111827"/>
                </a:solidFill>
                <a:latin typeface="+mj-lt"/>
              </a:rPr>
              <a:t>• Recovery Rate</a:t>
            </a:r>
            <a:r>
              <a:rPr dirty="0">
                <a:latin typeface="+mj-lt"/>
              </a:rPr>
              <a:t/>
            </a:r>
            <a:br>
              <a:rPr dirty="0">
                <a:latin typeface="+mj-lt"/>
              </a:rPr>
            </a:br>
            <a:r>
              <a:rPr sz="870" dirty="0">
                <a:latin typeface="+mj-lt"/>
              </a:rPr>
              <a:t>• Recovery / Account</a:t>
            </a:r>
            <a:br>
              <a:rPr sz="870" dirty="0">
                <a:latin typeface="+mj-lt"/>
              </a:rPr>
            </a:br>
            <a:r>
              <a:rPr sz="870" dirty="0">
                <a:latin typeface="+mj-lt"/>
              </a:rPr>
              <a:t>• Contact Rate</a:t>
            </a:r>
            <a:br>
              <a:rPr sz="870" dirty="0">
                <a:latin typeface="+mj-lt"/>
              </a:rPr>
            </a:br>
            <a:r>
              <a:rPr sz="870" dirty="0">
                <a:latin typeface="+mj-lt"/>
              </a:rPr>
              <a:t>• PTP Rate</a:t>
            </a:r>
            <a:br>
              <a:rPr sz="870" dirty="0">
                <a:latin typeface="+mj-lt"/>
              </a:rPr>
            </a:br>
            <a:r>
              <a:rPr sz="870" dirty="0">
                <a:latin typeface="+mj-lt"/>
              </a:rPr>
              <a:t>• PTP Kept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324529"/>
            <a:ext cx="1298448" cy="14452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19" b="1" i="0" dirty="0">
                <a:solidFill>
                  <a:srgbClr val="4B5563"/>
                </a:solidFill>
                <a:latin typeface="+mj-lt"/>
              </a:rPr>
              <a:t>NOT 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574644"/>
            <a:ext cx="1298448" cy="4122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19" b="0" i="0" dirty="0">
                <a:solidFill>
                  <a:srgbClr val="4B5563"/>
                </a:solidFill>
                <a:latin typeface="+mj-lt"/>
              </a:rPr>
              <a:t>RPC</a:t>
            </a:r>
            <a:r>
              <a:rPr dirty="0">
                <a:latin typeface="+mj-lt"/>
              </a:rPr>
              <a:t/>
            </a:r>
            <a:br>
              <a:rPr dirty="0">
                <a:latin typeface="+mj-lt"/>
              </a:rPr>
            </a:br>
            <a:r>
              <a:rPr sz="870" dirty="0">
                <a:latin typeface="+mj-lt"/>
              </a:rPr>
              <a:t>Recovery / Agent-Hour</a:t>
            </a:r>
            <a:br>
              <a:rPr sz="870" dirty="0">
                <a:latin typeface="+mj-lt"/>
              </a:rPr>
            </a:br>
            <a:r>
              <a:rPr sz="870" dirty="0">
                <a:latin typeface="+mj-lt"/>
              </a:rPr>
              <a:t>Cost / ₹ Recovered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40112" y="1024128"/>
            <a:ext cx="1481328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DASHBOARD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dirty="0">
                <a:solidFill>
                  <a:srgbClr val="111827"/>
                </a:solidFill>
                <a:latin typeface="+mj-lt"/>
              </a:rPr>
              <a:t>• Executive single-screen view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80" dirty="0">
                <a:solidFill>
                  <a:srgbClr val="111827"/>
                </a:solidFill>
                <a:latin typeface="+mj-lt"/>
              </a:rPr>
              <a:t>• No calculation happens here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2258568"/>
            <a:ext cx="100584" cy="0"/>
          </a:xfrm>
          <a:prstGeom prst="line">
            <a:avLst/>
          </a:prstGeom>
          <a:ln w="2159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91840" y="2258568"/>
            <a:ext cx="100584" cy="0"/>
          </a:xfrm>
          <a:prstGeom prst="line">
            <a:avLst/>
          </a:prstGeom>
          <a:ln w="2159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2258568"/>
            <a:ext cx="100584" cy="0"/>
          </a:xfrm>
          <a:prstGeom prst="line">
            <a:avLst/>
          </a:prstGeom>
          <a:ln w="2159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2258568"/>
            <a:ext cx="100584" cy="0"/>
          </a:xfrm>
          <a:prstGeom prst="line">
            <a:avLst/>
          </a:prstGeom>
          <a:ln w="2159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2258568"/>
            <a:ext cx="100583" cy="0"/>
          </a:xfrm>
          <a:prstGeom prst="line">
            <a:avLst/>
          </a:prstGeom>
          <a:ln w="2159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75520" y="2258568"/>
            <a:ext cx="100584" cy="0"/>
          </a:xfrm>
          <a:prstGeom prst="line">
            <a:avLst/>
          </a:prstGeom>
          <a:ln w="2159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423160" y="3675887"/>
            <a:ext cx="3749039" cy="10241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4B55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33472" y="3749039"/>
            <a:ext cx="3337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+mj-lt"/>
              </a:rPr>
              <a:t>QUARANTINE / DATA QUALITY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995928"/>
            <a:ext cx="3191256" cy="57246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 smtClean="0">
                <a:solidFill>
                  <a:srgbClr val="111827"/>
                </a:solidFill>
                <a:latin typeface="+mj-lt"/>
              </a:rPr>
              <a:t>Conflicting </a:t>
            </a:r>
            <a:r>
              <a:rPr sz="900" b="0" i="0" dirty="0">
                <a:solidFill>
                  <a:srgbClr val="111827"/>
                </a:solidFill>
                <a:latin typeface="+mj-lt"/>
              </a:rPr>
              <a:t>duplicates</a:t>
            </a:r>
            <a:r>
              <a:rPr sz="900" dirty="0">
                <a:latin typeface="+mj-lt"/>
              </a:rPr>
              <a:t/>
            </a:r>
            <a:br>
              <a:rPr sz="900" dirty="0">
                <a:latin typeface="+mj-lt"/>
              </a:rPr>
            </a:br>
            <a:r>
              <a:rPr sz="900" dirty="0" smtClean="0">
                <a:latin typeface="+mj-lt"/>
              </a:rPr>
              <a:t>Broken </a:t>
            </a:r>
            <a:r>
              <a:rPr sz="900" dirty="0">
                <a:latin typeface="+mj-lt"/>
              </a:rPr>
              <a:t>FK records</a:t>
            </a:r>
            <a:br>
              <a:rPr sz="900" dirty="0">
                <a:latin typeface="+mj-lt"/>
              </a:rPr>
            </a:br>
            <a:r>
              <a:rPr sz="900" dirty="0" smtClean="0">
                <a:latin typeface="+mj-lt"/>
              </a:rPr>
              <a:t>Timestamp </a:t>
            </a:r>
            <a:r>
              <a:rPr sz="900" dirty="0">
                <a:latin typeface="+mj-lt"/>
              </a:rPr>
              <a:t>/ disposition / PTP anomalies</a:t>
            </a:r>
            <a:br>
              <a:rPr sz="900" dirty="0">
                <a:latin typeface="+mj-lt"/>
              </a:rPr>
            </a:br>
            <a:r>
              <a:rPr sz="900" dirty="0" smtClean="0">
                <a:latin typeface="+mj-lt"/>
              </a:rPr>
              <a:t>Held </a:t>
            </a:r>
            <a:r>
              <a:rPr sz="900" dirty="0">
                <a:latin typeface="+mj-lt"/>
              </a:rPr>
              <a:t>for review — never silently dropped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97096" y="3493008"/>
            <a:ext cx="100584" cy="182879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43016" y="3493008"/>
            <a:ext cx="54864" cy="182879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20840" y="3675887"/>
            <a:ext cx="3794760" cy="10241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4B556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3749039"/>
            <a:ext cx="3429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+mj-lt"/>
              </a:rPr>
              <a:t>ATTRIBUTION (VERSIONED)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3986784"/>
            <a:ext cx="3401568" cy="433965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111827"/>
                </a:solidFill>
                <a:latin typeface="+mj-lt"/>
              </a:rPr>
              <a:t>campaign_attribution_v1 — 30-day campaign-touch window</a:t>
            </a:r>
            <a:r>
              <a:rPr sz="900" dirty="0">
                <a:latin typeface="+mj-lt"/>
              </a:rPr>
              <a:t/>
            </a:r>
            <a:br>
              <a:rPr sz="900" dirty="0">
                <a:latin typeface="+mj-lt"/>
              </a:rPr>
            </a:br>
            <a:r>
              <a:rPr sz="900" dirty="0">
                <a:latin typeface="+mj-lt"/>
              </a:rPr>
              <a:t>channel_conversion_v2 — 7-day touch-before-payment, first-touch</a:t>
            </a:r>
            <a:br>
              <a:rPr sz="900" dirty="0">
                <a:latin typeface="+mj-lt"/>
              </a:rPr>
            </a:br>
            <a:r>
              <a:rPr sz="900" dirty="0">
                <a:latin typeface="+mj-lt"/>
              </a:rPr>
              <a:t>Both versioned + reproducible from Golden facts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622792" y="3493008"/>
            <a:ext cx="502920" cy="182879"/>
          </a:xfrm>
          <a:prstGeom prst="line">
            <a:avLst/>
          </a:prstGeom>
          <a:ln w="16510">
            <a:solidFill>
              <a:srgbClr val="4B55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01168" y="4937760"/>
            <a:ext cx="11795760" cy="5029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9184" y="5029200"/>
            <a:ext cx="1417320" cy="2954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 i="0">
                <a:solidFill>
                  <a:srgbClr val="111827"/>
                </a:solidFill>
                <a:latin typeface="+mj-lt"/>
              </a:rPr>
              <a:t>MONITORING /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5020056"/>
            <a:ext cx="10972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Duplicate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020056"/>
            <a:ext cx="10972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Null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5020056"/>
            <a:ext cx="10972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FK failure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020056"/>
            <a:ext cx="10972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Schema drift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020056"/>
            <a:ext cx="10972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Timestamp anomalies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020056"/>
            <a:ext cx="10972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Volume anomalies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020056"/>
            <a:ext cx="10972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Attribution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5020056"/>
            <a:ext cx="10972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Freshness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1168" y="5504688"/>
            <a:ext cx="11795760" cy="50292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7472" y="5596128"/>
            <a:ext cx="13258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 i="0">
                <a:solidFill>
                  <a:srgbClr val="111827"/>
                </a:solidFill>
                <a:latin typeface="+mj-lt"/>
              </a:rPr>
              <a:t>FAILURE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577840"/>
            <a:ext cx="1874519" cy="2954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Source failure → stale / unavailable flag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5577840"/>
            <a:ext cx="169164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Schema failure → quarantine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5577840"/>
            <a:ext cx="1874519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Duplicate replay → idempotent upsert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577840"/>
            <a:ext cx="1783080" cy="2954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Historical correction → versioned reprocessing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577840"/>
            <a:ext cx="1783080" cy="1569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0" i="0" dirty="0">
                <a:solidFill>
                  <a:srgbClr val="4B5563"/>
                </a:solidFill>
                <a:latin typeface="+mj-lt"/>
              </a:rPr>
              <a:t>Late data → correct-period backfill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254496"/>
            <a:ext cx="5303520" cy="1292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0" i="0" dirty="0">
                <a:solidFill>
                  <a:srgbClr val="4B5563"/>
                </a:solidFill>
                <a:latin typeface="+mj-lt"/>
              </a:rPr>
              <a:t>Main flow: </a:t>
            </a:r>
            <a:r>
              <a:rPr lang="en-US" sz="720" dirty="0" smtClean="0">
                <a:solidFill>
                  <a:srgbClr val="4B5563"/>
                </a:solidFill>
                <a:latin typeface="+mj-lt"/>
              </a:rPr>
              <a:t>aqua </a:t>
            </a:r>
            <a:r>
              <a:rPr sz="720" b="0" i="0" dirty="0" smtClean="0">
                <a:solidFill>
                  <a:srgbClr val="4B5563"/>
                </a:solidFill>
                <a:latin typeface="+mj-lt"/>
              </a:rPr>
              <a:t>outline  </a:t>
            </a:r>
            <a:r>
              <a:rPr sz="720" b="0" i="0" dirty="0">
                <a:solidFill>
                  <a:srgbClr val="4B5563"/>
                </a:solidFill>
                <a:latin typeface="+mj-lt"/>
              </a:rPr>
              <a:t>|  Controls / supporting modules: dashed gray outline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6254496"/>
            <a:ext cx="3474720" cy="12926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720" b="0" i="0" dirty="0">
                <a:solidFill>
                  <a:srgbClr val="4B5563"/>
                </a:solidFill>
                <a:latin typeface="+mj-lt"/>
              </a:rPr>
              <a:t>Arrows indicate data flow </a:t>
            </a:r>
            <a:r>
              <a:rPr lang="en-US" sz="720" dirty="0" smtClean="0">
                <a:solidFill>
                  <a:srgbClr val="4B5563"/>
                </a:solidFill>
                <a:latin typeface="+mj-lt"/>
              </a:rPr>
              <a:t>or </a:t>
            </a:r>
            <a:r>
              <a:rPr sz="720" b="0" i="0" dirty="0" smtClean="0">
                <a:solidFill>
                  <a:srgbClr val="4B5563"/>
                </a:solidFill>
                <a:latin typeface="+mj-lt"/>
              </a:rPr>
              <a:t>dependency</a:t>
            </a:r>
            <a:endParaRPr sz="720" b="0" i="0" dirty="0">
              <a:solidFill>
                <a:srgbClr val="4B5563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</TotalTime>
  <Words>220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2026-09-01T17:37:58Z</dcterms:modified>
  <cp:category/>
</cp:coreProperties>
</file>